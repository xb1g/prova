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F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99999"/>
                </a:solidFill>
                <a:latin typeface="Calibri"/>
              </a:rPr>
              <a:t>PROVA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Proof
Over
Promises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5394960"/>
            <a:ext cx="914400" cy="45720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55778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AAAA"/>
                </a:solidFill>
                <a:latin typeface="Calibri"/>
              </a:rPr>
              <a:t>A social accountability platform that makes goals visible — and follow-through inevitable.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5486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A8BC9F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645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F2F2F"/>
                </a:solidFill>
                <a:latin typeface="Calibri"/>
              </a:rPr>
              <a:t>Everyone sets goals.
Almost no one follows through.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4114800"/>
            <a:ext cx="1463040" cy="64008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7A7872"/>
                </a:solidFill>
                <a:latin typeface="Calibri"/>
              </a:rPr>
              <a:t>PROVA is built on one idea: proof over promises.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94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Goals fail by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The tools we use to pursue goals were never built to keep us accountable.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000000"/>
                </a:solidFill>
                <a:latin typeface="Calibri"/>
              </a:rPr>
              <a:t>92%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9473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F2F2F"/>
                </a:solidFill>
                <a:latin typeface="Calibri"/>
              </a:rPr>
              <a:t>92% of people never reach their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651760"/>
            <a:ext cx="4389120" cy="182880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743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7872"/>
                </a:solidFill>
                <a:latin typeface="Calibri"/>
              </a:rPr>
              <a:t>HABIT TRACKERS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461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Private and silent — easy to ignore when nobody's watching.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651760"/>
            <a:ext cx="4389120" cy="182880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7872"/>
                </a:solidFill>
                <a:latin typeface="Calibri"/>
              </a:rPr>
              <a:t>SOCIAL 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461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Performative, not accountability-driven. Highlight reels, not real progress.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A7872"/>
                </a:solidFill>
                <a:latin typeface="Calibri"/>
              </a:rPr>
              <a:t>No product makes accountability both social and supportive — until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94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If people are watching,
you show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PROVA turns accountability into a social, low-pressure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9473"/>
                </a:solidFill>
                <a:latin typeface="Calibri"/>
              </a:rPr>
              <a:t>HOW PROVA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F2F2F"/>
                </a:solidFill>
                <a:latin typeface="Calibri"/>
              </a:rPr>
              <a:t>Set goals. Post proof. Stay consistent.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560320"/>
            <a:ext cx="658368" cy="658368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F2F2F"/>
                </a:solidFill>
                <a:latin typeface="Calibri"/>
              </a:rPr>
              <a:t>Share your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872"/>
                </a:solidFill>
                <a:latin typeface="Calibri"/>
              </a:rPr>
              <a:t>Add accountability partners — friends or community.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560320"/>
            <a:ext cx="658368" cy="658368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F2F2F"/>
                </a:solidFill>
                <a:latin typeface="Calibri"/>
              </a:rPr>
              <a:t>Post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872"/>
                </a:solidFill>
                <a:latin typeface="Calibri"/>
              </a:rPr>
              <a:t>Photo, video, or text — real evidence of real progress.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560320"/>
            <a:ext cx="658368" cy="658368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5603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F2F2F"/>
                </a:solidFill>
                <a:latin typeface="Calibri"/>
              </a:rPr>
              <a:t>Build 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872"/>
                </a:solidFill>
                <a:latin typeface="Calibri"/>
              </a:rPr>
              <a:t>Encouragement, reactions, and gentle accountability — not pressure.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9473"/>
                </a:solidFill>
                <a:latin typeface="Calibr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F2F2F"/>
                </a:solidFill>
                <a:latin typeface="Calibri"/>
              </a:rPr>
              <a:t>A social feed built around accountability.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954640"/>
            <a:ext cx="109728" cy="109728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8346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Goal creation + accountability partner invites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3549000"/>
            <a:ext cx="109728" cy="109728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4290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Proof posts — photo, video, or text updates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143360"/>
            <a:ext cx="109728" cy="109728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0233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Social feed of progress from your circle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4737720"/>
            <a:ext cx="109728" cy="109728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617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Reactions, encouragement, and gentle nudges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5332080"/>
            <a:ext cx="109728" cy="109728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212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Accountability visibility — who saw your update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731520"/>
            <a:ext cx="2377440" cy="530352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sted-1776647906686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777240"/>
            <a:ext cx="22860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F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99999"/>
                </a:solidFill>
                <a:latin typeface="Calibr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The moment has arrived.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• Social sharing is normalized — accountability is the missing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461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• Rise of 'soft productivity' and wellness culture among Gen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0233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• Burnout from performative platforms is accelerating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468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• Social apps moving toward smaller, more intentional communities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461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• AI makes building easy — execution and behavior change matter 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0233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• Users want supportive spaces, not highlight reels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5120640"/>
            <a:ext cx="64008" cy="914400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5074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8BC9F"/>
                </a:solidFill>
                <a:latin typeface="Calibri"/>
              </a:rPr>
              <a:t>PROVA sits at the intersection of social media, productivity, and habit tracking — a category that doesn't yet exist.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9473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F2F2F"/>
                </a:solidFill>
                <a:latin typeface="Calibri"/>
              </a:rPr>
              <a:t>A $40B+ market, underserved.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468880"/>
            <a:ext cx="3291840" cy="256032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7872"/>
                </a:solidFill>
                <a:latin typeface="Calibri"/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063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7C9473"/>
                </a:solidFill>
                <a:latin typeface="Calibri"/>
              </a:rPr>
              <a:t>$40B+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069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872"/>
                </a:solidFill>
                <a:latin typeface="Calibri"/>
              </a:rPr>
              <a:t>Global self-improvement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468880"/>
            <a:ext cx="3291840" cy="256032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7872"/>
                </a:solidFill>
                <a:latin typeface="Calibri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063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F2F2F"/>
                </a:solidFill>
                <a:latin typeface="Calibri"/>
              </a:rPr>
              <a:t>[SAM]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069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872"/>
                </a:solidFill>
                <a:latin typeface="Calibri"/>
              </a:rPr>
              <a:t>Habit tracking &amp; productivity apps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468880"/>
            <a:ext cx="3291840" cy="256032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7872"/>
                </a:solidFill>
                <a:latin typeface="Calibri"/>
              </a:rP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063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F2F2F"/>
                </a:solidFill>
                <a:latin typeface="Calibri"/>
              </a:rPr>
              <a:t>[SOM]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069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872"/>
                </a:solidFill>
                <a:latin typeface="Calibri"/>
              </a:rPr>
              <a:t>Gen Z + young professionals, wellness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394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A7872"/>
                </a:solidFill>
                <a:latin typeface="Calibri"/>
              </a:rPr>
              <a:t>Even capturing a small percentage of an active, paying user base translates to a significant revenue opportunity.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9473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F2F2F"/>
                </a:solidFill>
                <a:latin typeface="Calibri"/>
              </a:rPr>
              <a:t>Engagement first, revenue second.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9473"/>
                </a:solidFill>
                <a:latin typeface="Calibri"/>
              </a:rPr>
              <a:t>PRIMARY — B2B PARTNERSHIPS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26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• Brands create accountability challenges on PROVA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204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• Users join, post proof, earn rewards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114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• Brands pay for engagement, exposure, and motivated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091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• Example: fitness brands, athleisure, wellness companies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A7872"/>
                </a:solidFill>
                <a:latin typeface="Calibri"/>
              </a:rPr>
              <a:t>FUTURE — CONSUMER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926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• Freemium: Free basic → $2.99/mo unlimited goals +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5204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• Group accountability plans — paid challenges ($5–10)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114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• Creator-led groups with revenue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7872"/>
                </a:solidFill>
                <a:latin typeface="Calibri"/>
              </a:rPr>
              <a:t>"Optimizing for engagement first — revenue follows community."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9473"/>
                </a:solidFill>
                <a:latin typeface="Calibri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F2F2F"/>
                </a:solidFill>
                <a:latin typeface="Calibri"/>
              </a:rPr>
              <a:t>Early signals, real momentum.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468880"/>
            <a:ext cx="3291840" cy="182880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606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C9473"/>
                </a:solidFill>
                <a:latin typeface="Calibri"/>
              </a:rPr>
              <a:t>[X]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611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872"/>
                </a:solidFill>
                <a:latin typeface="Calibri"/>
              </a:rPr>
              <a:t>Early users signed 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2468880"/>
            <a:ext cx="3291840" cy="182880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2606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C9473"/>
                </a:solidFill>
                <a:latin typeface="Calibri"/>
              </a:rPr>
              <a:t>[X]%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611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872"/>
                </a:solidFill>
                <a:latin typeface="Calibri"/>
              </a:rPr>
              <a:t>Created at least one goal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468880"/>
            <a:ext cx="3291840" cy="182880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606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C9473"/>
                </a:solidFill>
                <a:latin typeface="Calibri"/>
              </a:rPr>
              <a:t>[X]%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611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872"/>
                </a:solidFill>
                <a:latin typeface="Calibri"/>
              </a:rPr>
              <a:t>Engaged with accountability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663440"/>
            <a:ext cx="9601200" cy="146304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754880"/>
            <a:ext cx="9052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7A7872"/>
                </a:solidFill>
                <a:latin typeface="Calibri"/>
              </a:rPr>
              <a:t>"Several users expressed strong interest in paying for premium tools. A majority engaged with social accountability features — the core mechanic — on day one."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9473"/>
                </a:solidFill>
                <a:latin typeface="Calibri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F2F2F"/>
                </a:solidFill>
                <a:latin typeface="Calibri"/>
              </a:rPr>
              <a:t>We sit at the intersection no one owns.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423160"/>
            <a:ext cx="9601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7872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7872"/>
                </a:solidFill>
                <a:latin typeface="Calibri"/>
              </a:rPr>
              <a:t>Social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7872"/>
                </a:solidFill>
                <a:latin typeface="Calibri"/>
              </a:rPr>
              <a:t>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7872"/>
                </a:solidFill>
                <a:latin typeface="Calibri"/>
              </a:rPr>
              <a:t>Supportive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3017520"/>
            <a:ext cx="9555480" cy="685800"/>
          </a:xfrm>
          <a:prstGeom prst="rect">
            <a:avLst/>
          </a:prstGeom>
          <a:solidFill>
            <a:srgbClr val="E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067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9473"/>
                </a:solidFill>
                <a:latin typeface="Calibri"/>
              </a:rPr>
              <a:t>✓ PROVA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0675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9473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0675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947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0675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9473"/>
                </a:solidFill>
                <a:latin typeface="Calibri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3749039"/>
            <a:ext cx="9555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79903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Habitica / Streaks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79903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08A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9903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9473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79903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08A"/>
                </a:solidFill>
                <a:latin typeface="Calibri"/>
              </a:rP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4480560"/>
            <a:ext cx="9555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5305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Instagram / TikTok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530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9473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30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08A"/>
                </a:solidFill>
                <a:latin typeface="Calibr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530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08A"/>
                </a:solidFill>
                <a:latin typeface="Calibri"/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212080"/>
            <a:ext cx="9555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2620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F2F2F"/>
                </a:solidFill>
                <a:latin typeface="Calibri"/>
              </a:rPr>
              <a:t>Strava / Fitness apps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52620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9473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2620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08A"/>
                </a:solidFill>
                <a:latin typeface="Calibri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52620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08A"/>
                </a:solidFill>
                <a:latin typeface="Calibri"/>
              </a:rPr>
              <a:t>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94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6459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PROVA makes accountability feel supportive, not stressful.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4572000"/>
            <a:ext cx="18288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846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A support system, not pressure. A community, not a tool.
A place for consistent growth — together.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9473"/>
                </a:solidFill>
                <a:latin typeface="Calibri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F2F2F"/>
                </a:solidFill>
                <a:latin typeface="Calibri"/>
              </a:rPr>
              <a:t>Built by people who live the problem.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560320"/>
            <a:ext cx="4754880" cy="228600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2834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DDD8CE"/>
                </a:solidFill>
                <a:latin typeface="Calibri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697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F2F2F"/>
                </a:solidFill>
                <a:latin typeface="Calibri"/>
              </a:rPr>
              <a:t>[Founder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C9473"/>
                </a:solidFill>
                <a:latin typeface="Calibri"/>
              </a:rPr>
              <a:t>[Role]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840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872"/>
                </a:solidFill>
                <a:latin typeface="Calibri"/>
              </a:rPr>
              <a:t>[Background / expertise]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560320"/>
            <a:ext cx="4754880" cy="2286000"/>
          </a:xfrm>
          <a:prstGeom prst="rect">
            <a:avLst/>
          </a:prstGeom>
          <a:solidFill>
            <a:srgbClr val="E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834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DDD8CE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697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F2F2F"/>
                </a:solidFill>
                <a:latin typeface="Calibri"/>
              </a:rPr>
              <a:t>[Team Member]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C9473"/>
                </a:solidFill>
                <a:latin typeface="Calibri"/>
              </a:rPr>
              <a:t>[Role]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840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872"/>
                </a:solidFill>
                <a:latin typeface="Calibri"/>
              </a:rPr>
              <a:t>[Background / expertise]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12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7A7872"/>
                </a:solidFill>
                <a:latin typeface="Calibri"/>
              </a:rPr>
              <a:t>Early users are actively shaping the product — community-driven development from day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F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99999"/>
                </a:solidFill>
                <a:latin typeface="Calibri"/>
              </a:rPr>
              <a:t>FUNDING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Seed the proof of concept.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514600"/>
            <a:ext cx="9601200" cy="1371600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6060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$5K–$10K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70048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To enhance development, accelerate user testing, and validate our core accountability mechanics with real users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160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BC9F"/>
                </a:solidFill>
                <a:latin typeface="Calibri"/>
              </a:rPr>
              <a:t>Milestone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091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CC"/>
                </a:solidFill>
                <a:latin typeface="Calibri"/>
              </a:rPr>
              <a:t>Scale to 1,000 users. Prove engagement with accountability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4160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BC9F"/>
                </a:solidFill>
                <a:latin typeface="Calibri"/>
              </a:rPr>
              <a:t>Milestone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7091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CC"/>
                </a:solidFill>
                <a:latin typeface="Calibri"/>
              </a:rPr>
              <a:t>Launch first B2B brand challenge. Validate the partnership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160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BC9F"/>
                </a:solidFill>
                <a:latin typeface="Calibri"/>
              </a:rPr>
              <a:t>Milestone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091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CC"/>
                </a:solidFill>
                <a:latin typeface="Calibri"/>
              </a:rPr>
              <a:t>Demonstrate product-market fit and position for next funding round.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822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9473"/>
                </a:solidFill>
                <a:latin typeface="Calibri"/>
              </a:rPr>
              <a:t>PROVA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1508760"/>
            <a:ext cx="1828800" cy="64008"/>
          </a:xfrm>
          <a:prstGeom prst="rect">
            <a:avLst/>
          </a:prstGeom>
          <a:solidFill>
            <a:srgbClr val="7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73736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2F2F2F"/>
                </a:solidFill>
                <a:latin typeface="Calibri"/>
              </a:rPr>
              <a:t>In a world full of intentions,
PROVA makes action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212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7A7872"/>
                </a:solidFill>
                <a:latin typeface="Calibri"/>
              </a:rPr>
              <a:t>Thank you. We’d love to answer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